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6" r:id="rId3"/>
    <p:sldId id="265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4D6A7-54C8-4CC9-B218-A76EC95260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933712-1F7F-4C5E-B025-039E5FCB15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3F63B-3FD0-4D54-85AB-34F337949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ED18-5575-4069-9E55-AEAFD31BDC1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2557C-017A-405F-B6F8-C9ADE57A8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F1427-609C-4EE2-BADF-E688E7EDD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EF66B-AD20-4B7A-9E56-2C94BA41BC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4787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DEE00-5A78-4894-8CE7-A5A9CF933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506F6-99D0-4416-A815-774C0B9BC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1AC58-984A-4A14-A4A8-45FA00552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ED18-5575-4069-9E55-AEAFD31BDC1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B5660-2F46-4A55-880E-9F8334D00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BCAAF-FF1F-4C97-AC1D-35213D60A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EF66B-AD20-4B7A-9E56-2C94BA41BC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8252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8F4EB-38F5-414C-99D5-5AAD70198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BB7510-DAD7-48A2-AE50-D01FFD0578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84282-2258-45C7-ACEA-9AF7E767E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ED18-5575-4069-9E55-AEAFD31BDC1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AF25F-5211-4D0F-A51E-194D6D596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D75FB-9DDB-49B4-8663-C4E6852E4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EF66B-AD20-4B7A-9E56-2C94BA41BC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376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71F82-B6E4-40B8-87A7-46BAB0D7A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8A45F-BBA7-406A-A809-31B3D69B6F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59A578-AEC9-4239-9771-1E50532BFB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67D47A-4750-402E-9D2C-19D068F4D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ED18-5575-4069-9E55-AEAFD31BDC1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FC8D5-8FDA-463C-B219-380005FB2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670544-A1B7-41F2-910D-14FF1874C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EF66B-AD20-4B7A-9E56-2C94BA41BC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0101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99C67-DAF4-46CA-94FA-040AC726D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035BC-8215-4FA2-82F4-2C0C72B6F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4ED599-CB82-4FF6-BFF8-2C57F2A503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E1952-E58A-469F-89D0-2AA377D0C2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9CE27B-AC42-4FBD-AB92-B18EA346F4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2391D7-AF60-4513-8AE4-A64A9AE1B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ED18-5575-4069-9E55-AEAFD31BDC1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06AAAB-3505-4E68-B01D-125BD782C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0327A9-D65B-4775-9BC4-83E267C9B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EF66B-AD20-4B7A-9E56-2C94BA41BC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5326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77A33-9042-4443-A77D-8846CE5CC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FD54BD-0D9C-444E-A9A1-1F62A01FA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ED18-5575-4069-9E55-AEAFD31BDC1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3C1C02-68AE-463F-B95B-D38537BC9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A1936A-F36F-4223-B513-B0F343A38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EF66B-AD20-4B7A-9E56-2C94BA41BC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7597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9658E3-FCB3-4E37-90D8-553E74116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ED18-5575-4069-9E55-AEAFD31BDC1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FBC962-FD15-4457-B843-A5EFDAEA3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8E15B5-740D-4EAE-A7D0-826F7480E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EF66B-AD20-4B7A-9E56-2C94BA41BC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0675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8EE50-2F7A-4B7B-877F-B958D1F7F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E29B8-A7E4-4C5B-BF75-2E452276A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350FCD-3532-40C3-B32E-27291B874D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00B6B-C77E-465D-B7E5-5B9FFF605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ED18-5575-4069-9E55-AEAFD31BDC1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8C351-A175-41B5-8FFC-56E083A68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9FCBC1-C938-48F2-AB6F-83DA06107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EF66B-AD20-4B7A-9E56-2C94BA41BC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9953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DB0E2-95DA-45F3-9F04-80A9467E4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A0BE92-2351-4087-A83F-D342F8DF1D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7A0545-78E1-47B5-A219-B0A58689E3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AAE688-4D26-4C5A-BEC7-315865563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ED18-5575-4069-9E55-AEAFD31BDC1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0BDBF-6DF3-4B05-B508-F68A7B16D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2B0BBE-CB1B-494B-A2E3-13EC2A42D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EF66B-AD20-4B7A-9E56-2C94BA41BC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7449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5C04B-3E4E-4DF8-95DE-593369E74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2FCB6C-6707-446F-A067-FE530CF14B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FC080-3105-406C-9A57-51D9FA29B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ED18-5575-4069-9E55-AEAFD31BDC1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EE660-D563-4588-9994-797CC0FFC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173B5-EF24-4A21-815A-34788CDE6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EF66B-AD20-4B7A-9E56-2C94BA41BC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2137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3E7B59-FCB0-40F9-830F-D9B3A77E04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9371B-4844-4DDF-84DE-43DE3FC8A2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2479E-2DD0-44E6-892E-481661ECF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ED18-5575-4069-9E55-AEAFD31BDC1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1FFD6-453F-41D1-8179-493B3E3BB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B8D58-347D-4779-B1CA-31F2ABB04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EF66B-AD20-4B7A-9E56-2C94BA41BC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0909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CD422E-06F2-46A3-A913-6F1D670CA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A02055-7583-481D-A992-A64D3B822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5C261-4941-4037-9DC0-3AED12F019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4AED18-5575-4069-9E55-AEAFD31BDC1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EF22A-F294-40FF-A277-0277C90A39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9E0E8-8202-4CBE-BC5E-D645B00AB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9EF66B-AD20-4B7A-9E56-2C94BA41BC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4271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F33F9-9226-4646-9918-93BF58A90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My humblest apologies &lt;/3</a:t>
            </a:r>
          </a:p>
        </p:txBody>
      </p:sp>
    </p:spTree>
    <p:extLst>
      <p:ext uri="{BB962C8B-B14F-4D97-AF65-F5344CB8AC3E}">
        <p14:creationId xmlns:p14="http://schemas.microsoft.com/office/powerpoint/2010/main" val="1642570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BF4E0E-5100-486B-9658-761E0F12E6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3531" y="0"/>
            <a:ext cx="7584937" cy="41877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400721-FCC9-44E8-94B2-E66E734F24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3531" y="4187722"/>
            <a:ext cx="7584937" cy="238421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7F262E8-1C82-4403-AC95-24630E3CE4BD}"/>
              </a:ext>
            </a:extLst>
          </p:cNvPr>
          <p:cNvSpPr/>
          <p:nvPr/>
        </p:nvSpPr>
        <p:spPr>
          <a:xfrm>
            <a:off x="237066" y="110067"/>
            <a:ext cx="1701800" cy="6265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Will be clickable on every page and will send the user to the home page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955BE83-B0FB-4C30-B7D9-124371B22984}"/>
              </a:ext>
            </a:extLst>
          </p:cNvPr>
          <p:cNvCxnSpPr>
            <a:stCxn id="3" idx="3"/>
          </p:cNvCxnSpPr>
          <p:nvPr/>
        </p:nvCxnSpPr>
        <p:spPr>
          <a:xfrm flipV="1">
            <a:off x="1938866" y="270933"/>
            <a:ext cx="465667" cy="1524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6B2E2A67-EAE5-4128-93C5-5A4A82D35B24}"/>
              </a:ext>
            </a:extLst>
          </p:cNvPr>
          <p:cNvSpPr/>
          <p:nvPr/>
        </p:nvSpPr>
        <p:spPr>
          <a:xfrm>
            <a:off x="9990667" y="2836333"/>
            <a:ext cx="2108200" cy="1185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These will take the user to the already filtered Rooms page as a short cut to improve user experience with the website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54DFFC-570E-464C-8B34-02761D47835F}"/>
              </a:ext>
            </a:extLst>
          </p:cNvPr>
          <p:cNvSpPr/>
          <p:nvPr/>
        </p:nvSpPr>
        <p:spPr>
          <a:xfrm>
            <a:off x="63499" y="3874454"/>
            <a:ext cx="2108200" cy="16712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These show that the company has all these things, which will gain user trust. It’s on the home page so it’ll be one of the first things users notice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E2EB29-8D8F-41E7-9868-5A744D8ED246}"/>
              </a:ext>
            </a:extLst>
          </p:cNvPr>
          <p:cNvSpPr/>
          <p:nvPr/>
        </p:nvSpPr>
        <p:spPr>
          <a:xfrm>
            <a:off x="10032702" y="601131"/>
            <a:ext cx="2006898" cy="19812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The background should be white, with each card being a lighter version of the accent colour (blue)</a:t>
            </a:r>
          </a:p>
        </p:txBody>
      </p:sp>
    </p:spTree>
    <p:extLst>
      <p:ext uri="{BB962C8B-B14F-4D97-AF65-F5344CB8AC3E}">
        <p14:creationId xmlns:p14="http://schemas.microsoft.com/office/powerpoint/2010/main" val="2621428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0949B15-201E-4325-9011-F41132255ACC}"/>
              </a:ext>
            </a:extLst>
          </p:cNvPr>
          <p:cNvSpPr/>
          <p:nvPr/>
        </p:nvSpPr>
        <p:spPr>
          <a:xfrm>
            <a:off x="152399" y="203200"/>
            <a:ext cx="1964266" cy="218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050" b="1" i="0" dirty="0">
                <a:effectLst/>
                <a:latin typeface="ui-sans-serif"/>
              </a:rPr>
              <a:t>Navigation Bar</a:t>
            </a:r>
          </a:p>
          <a:p>
            <a:pPr algn="l"/>
            <a:r>
              <a:rPr lang="en-GB" sz="1050" b="0" i="0" dirty="0">
                <a:effectLst/>
                <a:latin typeface="ui-sans-serif"/>
              </a:rPr>
              <a:t>-Height: 64px fixed, background #2563EB (blue-600)</a:t>
            </a:r>
          </a:p>
          <a:p>
            <a:pPr algn="l"/>
            <a:r>
              <a:rPr lang="en-GB" sz="1050" b="0" i="0" dirty="0">
                <a:effectLst/>
                <a:latin typeface="ui-sans-serif"/>
              </a:rPr>
              <a:t>-Logo: 24px font-size, 700 weight</a:t>
            </a:r>
          </a:p>
          <a:p>
            <a:pPr algn="l"/>
            <a:r>
              <a:rPr lang="en-GB" sz="1050" b="0" i="0" dirty="0">
                <a:effectLst/>
                <a:latin typeface="ui-sans-serif"/>
              </a:rPr>
              <a:t>-Nav items: 14px font-size, 12px horizontal padding</a:t>
            </a:r>
          </a:p>
          <a:p>
            <a:pPr algn="l"/>
            <a:r>
              <a:rPr lang="en-GB" sz="1050" dirty="0">
                <a:latin typeface="ui-sans-serif"/>
              </a:rPr>
              <a:t>-</a:t>
            </a:r>
            <a:r>
              <a:rPr lang="en-GB" sz="1050" b="0" i="0" dirty="0">
                <a:effectLst/>
                <a:latin typeface="ui-sans-serif"/>
              </a:rPr>
              <a:t>Login button: white background, #2563EB text, 6px border-radius</a:t>
            </a:r>
          </a:p>
          <a:p>
            <a:pPr algn="l"/>
            <a:r>
              <a:rPr lang="en-GB" sz="1050" dirty="0">
                <a:latin typeface="ui-sans-serif"/>
              </a:rPr>
              <a:t>-</a:t>
            </a:r>
            <a:r>
              <a:rPr lang="en-GB" sz="1050" b="0" i="0" dirty="0">
                <a:effectLst/>
                <a:latin typeface="ui-sans-serif"/>
              </a:rPr>
              <a:t>Sticky positioning on scroll for easy access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6D5FF9-95E6-4D78-8083-F39036BFE3C4}"/>
              </a:ext>
            </a:extLst>
          </p:cNvPr>
          <p:cNvSpPr/>
          <p:nvPr/>
        </p:nvSpPr>
        <p:spPr>
          <a:xfrm>
            <a:off x="2506132" y="296333"/>
            <a:ext cx="2667001" cy="20912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100" b="1" i="0" dirty="0">
                <a:effectLst/>
                <a:latin typeface="ui-sans-serif"/>
              </a:rPr>
              <a:t>Hero Section Design</a:t>
            </a:r>
          </a:p>
          <a:p>
            <a:pPr algn="l"/>
            <a:r>
              <a:rPr lang="en-GB" sz="1100" b="0" i="0" dirty="0">
                <a:effectLst/>
                <a:latin typeface="ui-sans-serif"/>
              </a:rPr>
              <a:t>-Hero height: 400px with gradient background (#EFF6FF to #E0E7FF)</a:t>
            </a:r>
          </a:p>
          <a:p>
            <a:pPr algn="l"/>
            <a:r>
              <a:rPr lang="en-GB" sz="1100" dirty="0">
                <a:latin typeface="ui-sans-serif"/>
              </a:rPr>
              <a:t>-</a:t>
            </a:r>
            <a:r>
              <a:rPr lang="en-GB" sz="1100" b="0" i="0" dirty="0">
                <a:effectLst/>
                <a:latin typeface="ui-sans-serif"/>
              </a:rPr>
              <a:t> Heading: 48px font-size, 700 weight, #1F2937 colour</a:t>
            </a:r>
          </a:p>
          <a:p>
            <a:pPr algn="l"/>
            <a:r>
              <a:rPr lang="en-GB" sz="1100" dirty="0">
                <a:latin typeface="ui-sans-serif"/>
              </a:rPr>
              <a:t>-</a:t>
            </a:r>
            <a:r>
              <a:rPr lang="en-GB" sz="1100" b="0" i="0" dirty="0">
                <a:effectLst/>
                <a:latin typeface="ui-sans-serif"/>
              </a:rPr>
              <a:t>Subtext: 18px, line-height 28px for readability</a:t>
            </a:r>
          </a:p>
          <a:p>
            <a:pPr algn="l"/>
            <a:r>
              <a:rPr lang="en-GB" sz="1100" dirty="0">
                <a:latin typeface="ui-sans-serif"/>
              </a:rPr>
              <a:t>-</a:t>
            </a:r>
            <a:r>
              <a:rPr lang="en-GB" sz="1100" b="0" i="0" dirty="0">
                <a:effectLst/>
                <a:latin typeface="ui-sans-serif"/>
              </a:rPr>
              <a:t>CTA buttons: 48px height, 16px padding, rounded-</a:t>
            </a:r>
            <a:r>
              <a:rPr lang="en-GB" sz="1100" b="0" i="0" dirty="0" err="1">
                <a:effectLst/>
                <a:latin typeface="ui-sans-serif"/>
              </a:rPr>
              <a:t>lg</a:t>
            </a:r>
            <a:r>
              <a:rPr lang="en-GB" sz="1100" b="0" i="0" dirty="0">
                <a:effectLst/>
                <a:latin typeface="ui-sans-serif"/>
              </a:rPr>
              <a:t> (8px)</a:t>
            </a:r>
          </a:p>
          <a:p>
            <a:pPr algn="l"/>
            <a:r>
              <a:rPr lang="en-GB" sz="1100" dirty="0">
                <a:latin typeface="ui-sans-serif"/>
              </a:rPr>
              <a:t>-</a:t>
            </a:r>
            <a:r>
              <a:rPr lang="en-GB" sz="1100" b="0" i="0" dirty="0">
                <a:effectLst/>
                <a:latin typeface="ui-sans-serif"/>
              </a:rPr>
              <a:t>Primary button: #3B82F6 (blue-600), Secondary: #10B981 (green-600)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7FF5D9-6083-426B-8F14-90B2FC8AFB4B}"/>
              </a:ext>
            </a:extLst>
          </p:cNvPr>
          <p:cNvSpPr/>
          <p:nvPr/>
        </p:nvSpPr>
        <p:spPr>
          <a:xfrm>
            <a:off x="5562598" y="364067"/>
            <a:ext cx="2269067" cy="20235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100" b="1" i="0" dirty="0">
                <a:effectLst/>
                <a:latin typeface="ui-sans-serif"/>
              </a:rPr>
              <a:t>Quick Links Grid</a:t>
            </a:r>
          </a:p>
          <a:p>
            <a:pPr algn="l"/>
            <a:r>
              <a:rPr lang="en-GB" sz="1100" dirty="0">
                <a:latin typeface="ui-sans-serif"/>
              </a:rPr>
              <a:t>-</a:t>
            </a:r>
            <a:r>
              <a:rPr lang="en-GB" sz="1100" b="0" i="0" dirty="0">
                <a:effectLst/>
                <a:latin typeface="ui-sans-serif"/>
              </a:rPr>
              <a:t>Grid: 4 columns on desktop, 2 on tablet, 1 on mobile</a:t>
            </a:r>
          </a:p>
          <a:p>
            <a:pPr algn="l"/>
            <a:r>
              <a:rPr lang="en-GB" sz="1100" dirty="0">
                <a:latin typeface="ui-sans-serif"/>
              </a:rPr>
              <a:t>-</a:t>
            </a:r>
            <a:r>
              <a:rPr lang="en-GB" sz="1100" b="0" i="0" dirty="0">
                <a:effectLst/>
                <a:latin typeface="ui-sans-serif"/>
              </a:rPr>
              <a:t> Card size: Min-height 200px with 24px padding</a:t>
            </a:r>
          </a:p>
          <a:p>
            <a:pPr algn="l"/>
            <a:r>
              <a:rPr lang="en-GB" sz="1100" dirty="0">
                <a:latin typeface="ui-sans-serif"/>
              </a:rPr>
              <a:t>-</a:t>
            </a:r>
            <a:r>
              <a:rPr lang="en-GB" sz="1100" b="0" i="0" dirty="0">
                <a:effectLst/>
                <a:latin typeface="ui-sans-serif"/>
              </a:rPr>
              <a:t>Images: 192px height, 16:9 aspect ratio</a:t>
            </a:r>
          </a:p>
          <a:p>
            <a:pPr algn="l"/>
            <a:r>
              <a:rPr lang="en-GB" sz="1100" dirty="0">
                <a:latin typeface="ui-sans-serif"/>
              </a:rPr>
              <a:t>-</a:t>
            </a:r>
            <a:r>
              <a:rPr lang="en-GB" sz="1100" b="0" i="0" dirty="0">
                <a:effectLst/>
                <a:latin typeface="ui-sans-serif"/>
              </a:rPr>
              <a:t>Hover effect: </a:t>
            </a:r>
            <a:r>
              <a:rPr lang="en-GB" sz="1100" b="0" i="0" dirty="0" err="1">
                <a:effectLst/>
                <a:latin typeface="ui-sans-serif"/>
              </a:rPr>
              <a:t>translateY</a:t>
            </a:r>
            <a:r>
              <a:rPr lang="en-GB" sz="1100" b="0" i="0" dirty="0">
                <a:effectLst/>
                <a:latin typeface="ui-sans-serif"/>
              </a:rPr>
              <a:t>(-4px) with shadow-xl</a:t>
            </a:r>
          </a:p>
          <a:p>
            <a:pPr algn="l"/>
            <a:r>
              <a:rPr lang="en-GB" sz="1100" dirty="0">
                <a:latin typeface="ui-sans-serif"/>
              </a:rPr>
              <a:t>-</a:t>
            </a:r>
            <a:r>
              <a:rPr lang="en-GB" sz="1100" b="0" i="0" dirty="0">
                <a:effectLst/>
                <a:latin typeface="ui-sans-serif"/>
              </a:rPr>
              <a:t> Gap between cards: 16px (gap-4)</a:t>
            </a:r>
          </a:p>
        </p:txBody>
      </p:sp>
    </p:spTree>
    <p:extLst>
      <p:ext uri="{BB962C8B-B14F-4D97-AF65-F5344CB8AC3E}">
        <p14:creationId xmlns:p14="http://schemas.microsoft.com/office/powerpoint/2010/main" val="1133600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48A1D5-F847-40BA-BBE0-6DA3ED468D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7776" y="592666"/>
            <a:ext cx="6199300" cy="39285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E97C39-F8C4-4607-9C1D-FE546AE3C5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7776" y="4521199"/>
            <a:ext cx="6176385" cy="17397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A84FD9C-DB54-408B-BBC6-9A767D4FD489}"/>
              </a:ext>
            </a:extLst>
          </p:cNvPr>
          <p:cNvSpPr/>
          <p:nvPr/>
        </p:nvSpPr>
        <p:spPr>
          <a:xfrm>
            <a:off x="270933" y="211666"/>
            <a:ext cx="2438400" cy="2641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100" b="1" i="0" dirty="0">
                <a:effectLst/>
                <a:latin typeface="ui-sans-serif"/>
              </a:rPr>
              <a:t>Accessibility Feature</a:t>
            </a:r>
          </a:p>
          <a:p>
            <a:pPr algn="l"/>
            <a:r>
              <a:rPr lang="en-GB" sz="1100" dirty="0">
                <a:latin typeface="ui-sans-serif"/>
              </a:rPr>
              <a:t>-</a:t>
            </a:r>
            <a:r>
              <a:rPr lang="en-GB" sz="1100" b="0" i="0" dirty="0">
                <a:effectLst/>
                <a:latin typeface="ui-sans-serif"/>
              </a:rPr>
              <a:t>All inputs have visible labels (not placeholders)</a:t>
            </a:r>
          </a:p>
          <a:p>
            <a:pPr algn="l"/>
            <a:r>
              <a:rPr lang="en-GB" sz="1100" dirty="0">
                <a:latin typeface="ui-sans-serif"/>
              </a:rPr>
              <a:t>-</a:t>
            </a:r>
            <a:r>
              <a:rPr lang="en-GB" sz="1100" b="0" i="0" dirty="0">
                <a:effectLst/>
                <a:latin typeface="ui-sans-serif"/>
              </a:rPr>
              <a:t>Tab index order: flows naturally top to bottom</a:t>
            </a:r>
          </a:p>
          <a:p>
            <a:pPr algn="l"/>
            <a:r>
              <a:rPr lang="en-GB" sz="1100" dirty="0">
                <a:latin typeface="ui-sans-serif"/>
              </a:rPr>
              <a:t>-</a:t>
            </a:r>
            <a:r>
              <a:rPr lang="en-GB" sz="1100" b="0" i="0" dirty="0">
                <a:effectLst/>
                <a:latin typeface="ui-sans-serif"/>
              </a:rPr>
              <a:t>Error messages: #DC2626 (red-600) with icons</a:t>
            </a:r>
          </a:p>
          <a:p>
            <a:pPr algn="l"/>
            <a:r>
              <a:rPr lang="en-GB" sz="1100" dirty="0">
                <a:latin typeface="ui-sans-serif"/>
              </a:rPr>
              <a:t>-</a:t>
            </a:r>
            <a:r>
              <a:rPr lang="en-GB" sz="1100" b="0" i="0" dirty="0">
                <a:effectLst/>
                <a:latin typeface="ui-sans-serif"/>
              </a:rPr>
              <a:t>Min contrast ratio: 4.5:1 for WCAG AA compliance</a:t>
            </a:r>
          </a:p>
          <a:p>
            <a:pPr algn="l"/>
            <a:r>
              <a:rPr lang="en-GB" sz="1100" dirty="0">
                <a:latin typeface="ui-sans-serif"/>
              </a:rPr>
              <a:t>-</a:t>
            </a:r>
            <a:r>
              <a:rPr lang="en-GB" sz="1100" b="0" i="0" dirty="0">
                <a:effectLst/>
                <a:latin typeface="ui-sans-serif"/>
              </a:rPr>
              <a:t>Checkbox: 16px touch target, increased to 44px on mobile</a:t>
            </a:r>
          </a:p>
          <a:p>
            <a:pPr algn="l"/>
            <a:r>
              <a:rPr lang="en-GB" sz="1100" dirty="0">
                <a:latin typeface="ui-sans-serif"/>
              </a:rPr>
              <a:t>-</a:t>
            </a:r>
            <a:r>
              <a:rPr lang="en-GB" sz="1100" b="0" i="0" dirty="0">
                <a:effectLst/>
                <a:latin typeface="ui-sans-serif"/>
              </a:rPr>
              <a:t>Why: Meets WCAG 2.1 AA standards for inclusive design</a:t>
            </a:r>
          </a:p>
          <a:p>
            <a:pPr algn="ctr"/>
            <a:endParaRPr lang="en-GB" sz="11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0D479B-5FEF-4970-ABE6-2E54BF44DCD7}"/>
              </a:ext>
            </a:extLst>
          </p:cNvPr>
          <p:cNvSpPr/>
          <p:nvPr/>
        </p:nvSpPr>
        <p:spPr>
          <a:xfrm>
            <a:off x="9567333" y="110067"/>
            <a:ext cx="2438400" cy="2641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200" b="1" i="0" dirty="0">
                <a:effectLst/>
                <a:latin typeface="ui-sans-serif"/>
              </a:rPr>
              <a:t>Form Layout Design</a:t>
            </a:r>
          </a:p>
          <a:p>
            <a:pPr algn="l"/>
            <a:r>
              <a:rPr lang="en-GB" sz="1200" dirty="0">
                <a:latin typeface="ui-sans-serif"/>
              </a:rPr>
              <a:t>-</a:t>
            </a:r>
            <a:r>
              <a:rPr lang="en-GB" sz="1200" b="0" i="0" dirty="0">
                <a:effectLst/>
                <a:latin typeface="ui-sans-serif"/>
              </a:rPr>
              <a:t>Two-column grid: 50/50 split on desktop (max-width 1024px)</a:t>
            </a:r>
          </a:p>
          <a:p>
            <a:pPr algn="l"/>
            <a:r>
              <a:rPr lang="en-GB" sz="1200" dirty="0">
                <a:latin typeface="ui-sans-serif"/>
              </a:rPr>
              <a:t>-</a:t>
            </a:r>
            <a:r>
              <a:rPr lang="en-GB" sz="1200" b="0" i="0" dirty="0">
                <a:effectLst/>
                <a:latin typeface="ui-sans-serif"/>
              </a:rPr>
              <a:t>Form container: 600px max-width each, 24px padding</a:t>
            </a:r>
          </a:p>
          <a:p>
            <a:pPr algn="l"/>
            <a:r>
              <a:rPr lang="en-GB" sz="1200" dirty="0">
                <a:latin typeface="ui-sans-serif"/>
              </a:rPr>
              <a:t>-</a:t>
            </a:r>
            <a:r>
              <a:rPr lang="en-GB" sz="1200" b="0" i="0" dirty="0">
                <a:effectLst/>
                <a:latin typeface="ui-sans-serif"/>
              </a:rPr>
              <a:t>Input fields: 48px height, 16px text, 12px border-radius</a:t>
            </a:r>
          </a:p>
          <a:p>
            <a:pPr algn="l"/>
            <a:r>
              <a:rPr lang="en-GB" sz="1200" dirty="0">
                <a:latin typeface="ui-sans-serif"/>
              </a:rPr>
              <a:t>-</a:t>
            </a:r>
            <a:r>
              <a:rPr lang="en-GB" sz="1200" b="0" i="0" dirty="0">
                <a:effectLst/>
                <a:latin typeface="ui-sans-serif"/>
              </a:rPr>
              <a:t>Labels: 14px font-size, 600 weight, #374151 colour</a:t>
            </a:r>
          </a:p>
          <a:p>
            <a:pPr algn="l"/>
            <a:r>
              <a:rPr lang="en-GB" sz="1200" dirty="0">
                <a:latin typeface="ui-sans-serif"/>
              </a:rPr>
              <a:t>-</a:t>
            </a:r>
            <a:r>
              <a:rPr lang="en-GB" sz="1200" b="0" i="0" dirty="0">
                <a:effectLst/>
                <a:latin typeface="ui-sans-serif"/>
              </a:rPr>
              <a:t>Focus state: #3B82F6 border (2px), #DBEAFE background</a:t>
            </a:r>
          </a:p>
          <a:p>
            <a:pPr algn="ctr"/>
            <a:endParaRPr lang="en-GB" sz="1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FB0801-3102-4AF6-804A-66328A4401F0}"/>
              </a:ext>
            </a:extLst>
          </p:cNvPr>
          <p:cNvSpPr/>
          <p:nvPr/>
        </p:nvSpPr>
        <p:spPr>
          <a:xfrm>
            <a:off x="126779" y="4241800"/>
            <a:ext cx="2836776" cy="2091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200" b="1" i="0" dirty="0">
                <a:effectLst/>
                <a:latin typeface="ui-sans-serif"/>
              </a:rPr>
              <a:t>Security &amp; Trust</a:t>
            </a:r>
          </a:p>
          <a:p>
            <a:pPr algn="l"/>
            <a:r>
              <a:rPr lang="en-GB" sz="1200" dirty="0">
                <a:latin typeface="ui-sans-serif"/>
              </a:rPr>
              <a:t>-</a:t>
            </a:r>
            <a:r>
              <a:rPr lang="en-GB" sz="1200" b="0" i="0" dirty="0">
                <a:effectLst/>
                <a:latin typeface="ui-sans-serif"/>
              </a:rPr>
              <a:t>Password field: type="password" with show/hide toggle</a:t>
            </a:r>
          </a:p>
          <a:p>
            <a:pPr algn="l"/>
            <a:r>
              <a:rPr lang="en-GB" sz="1200" dirty="0">
                <a:latin typeface="ui-sans-serif"/>
              </a:rPr>
              <a:t>-</a:t>
            </a:r>
            <a:r>
              <a:rPr lang="en-GB" sz="1200" b="0" i="0" dirty="0">
                <a:effectLst/>
                <a:latin typeface="ui-sans-serif"/>
              </a:rPr>
              <a:t>Benefits section: #EFF6FF background, builds trust</a:t>
            </a:r>
          </a:p>
          <a:p>
            <a:pPr algn="l"/>
            <a:r>
              <a:rPr lang="en-GB" sz="1200" dirty="0">
                <a:latin typeface="ui-sans-serif"/>
              </a:rPr>
              <a:t>-</a:t>
            </a:r>
            <a:r>
              <a:rPr lang="en-GB" sz="1200" b="0" i="0" dirty="0">
                <a:effectLst/>
                <a:latin typeface="ui-sans-serif"/>
              </a:rPr>
              <a:t>Terms checkbox: Required before registration</a:t>
            </a:r>
          </a:p>
          <a:p>
            <a:pPr algn="l"/>
            <a:r>
              <a:rPr lang="en-GB" sz="1200" dirty="0">
                <a:latin typeface="ui-sans-serif"/>
              </a:rPr>
              <a:t>-</a:t>
            </a:r>
            <a:r>
              <a:rPr lang="en-GB" sz="1200" b="0" i="0" dirty="0">
                <a:effectLst/>
                <a:latin typeface="ui-sans-serif"/>
              </a:rPr>
              <a:t>SSL badge in footer (planned)</a:t>
            </a:r>
          </a:p>
          <a:p>
            <a:pPr algn="l"/>
            <a:r>
              <a:rPr lang="en-GB" sz="1200" dirty="0">
                <a:latin typeface="ui-sans-serif"/>
              </a:rPr>
              <a:t>-</a:t>
            </a:r>
            <a:r>
              <a:rPr lang="en-GB" sz="1200" b="0" i="0" dirty="0" err="1">
                <a:effectLst/>
                <a:latin typeface="ui-sans-serif"/>
              </a:rPr>
              <a:t>Colors</a:t>
            </a:r>
            <a:r>
              <a:rPr lang="en-GB" sz="1200" b="0" i="0" dirty="0">
                <a:effectLst/>
                <a:latin typeface="ui-sans-serif"/>
              </a:rPr>
              <a:t>: Blue (#3B82F6) for trust, Green (#10B981) for action</a:t>
            </a:r>
          </a:p>
          <a:p>
            <a:pPr algn="ctr"/>
            <a:endParaRPr lang="en-GB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F1FF01-B7C5-444C-B6EF-81F6E439BD77}"/>
              </a:ext>
            </a:extLst>
          </p:cNvPr>
          <p:cNvSpPr/>
          <p:nvPr/>
        </p:nvSpPr>
        <p:spPr>
          <a:xfrm>
            <a:off x="9651999" y="3937000"/>
            <a:ext cx="2065867" cy="12615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Terms and conditions so the user understands that if they break any of them, they will be held liable and not the company</a:t>
            </a:r>
          </a:p>
        </p:txBody>
      </p:sp>
    </p:spTree>
    <p:extLst>
      <p:ext uri="{BB962C8B-B14F-4D97-AF65-F5344CB8AC3E}">
        <p14:creationId xmlns:p14="http://schemas.microsoft.com/office/powerpoint/2010/main" val="3139141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DCFC6C-57BB-4245-9879-375DDB7631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9493" y="147206"/>
            <a:ext cx="5545908" cy="31055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59C0CA-94CF-4F9E-B81A-9B0A327F03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9493" y="3226826"/>
            <a:ext cx="5545908" cy="34839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4A716D-001C-464F-A841-2724BE97B1F7}"/>
              </a:ext>
            </a:extLst>
          </p:cNvPr>
          <p:cNvSpPr txBox="1"/>
          <p:nvPr/>
        </p:nvSpPr>
        <p:spPr>
          <a:xfrm>
            <a:off x="355601" y="335971"/>
            <a:ext cx="2743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00" b="1" i="0" dirty="0">
                <a:effectLst/>
                <a:latin typeface="ui-sans-serif"/>
              </a:rPr>
              <a:t>Room Card Layout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Card height: min-height 240px, full-width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Image: 256px width, 192px height, object-fit cover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Grid on stats: 3 columns, gap-16px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Facility badges: #DBEAFE background, #1E40AF text, 6px rounded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Padding: 24px all around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Why: Horizontal cards show more info without scrolling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F43AA5-6CB9-4684-89EC-448D932852A0}"/>
              </a:ext>
            </a:extLst>
          </p:cNvPr>
          <p:cNvSpPr txBox="1"/>
          <p:nvPr/>
        </p:nvSpPr>
        <p:spPr>
          <a:xfrm>
            <a:off x="9186093" y="262805"/>
            <a:ext cx="27432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00" b="1" i="0" dirty="0">
                <a:effectLst/>
                <a:latin typeface="ui-sans-serif"/>
              </a:rPr>
              <a:t>Filter System Design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Filter bar: 80px height, #F9FAFB background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Dropdown selects: 40px height, 12px padding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Filter button: #3B82F6, transitions on 300ms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Mobile: Filters collapse into drawer/modal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Active filters show as removable chips below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Why: Instant filtering helps users find rooms quickly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3FE3D9-531B-47B4-BA6F-EC55C38C6833}"/>
              </a:ext>
            </a:extLst>
          </p:cNvPr>
          <p:cNvSpPr txBox="1"/>
          <p:nvPr/>
        </p:nvSpPr>
        <p:spPr>
          <a:xfrm>
            <a:off x="9262533" y="3814648"/>
            <a:ext cx="2539999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00" b="1" i="0" dirty="0">
                <a:effectLst/>
                <a:latin typeface="ui-sans-serif"/>
              </a:rPr>
              <a:t>CTA Button Strategy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Primary CTA "Book This Room": #10B981 (green), 48px height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Secondary "View Details": #3B82F6, ghost style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Button width: flex-1 (equal distribution)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Hover: brightness(110%), shadow-</a:t>
            </a:r>
            <a:r>
              <a:rPr lang="en-GB" sz="1200" b="0" i="0" dirty="0" err="1">
                <a:effectLst/>
                <a:latin typeface="ui-sans-serif"/>
              </a:rPr>
              <a:t>lg</a:t>
            </a:r>
            <a:endParaRPr lang="en-GB" sz="1200" b="0" i="0" dirty="0">
              <a:effectLst/>
              <a:latin typeface="ui-sans-serif"/>
            </a:endParaRPr>
          </a:p>
          <a:p>
            <a:pPr algn="l"/>
            <a:r>
              <a:rPr lang="en-GB" sz="1200" b="0" i="0" dirty="0">
                <a:effectLst/>
                <a:latin typeface="ui-sans-serif"/>
              </a:rPr>
              <a:t>Text: 16px, 600 weight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Why: Green signals action, blue for information gathering</a:t>
            </a:r>
          </a:p>
        </p:txBody>
      </p:sp>
    </p:spTree>
    <p:extLst>
      <p:ext uri="{BB962C8B-B14F-4D97-AF65-F5344CB8AC3E}">
        <p14:creationId xmlns:p14="http://schemas.microsoft.com/office/powerpoint/2010/main" val="571099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10CE8B-F81D-45C8-BA56-006CE87BA1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7699" y="242358"/>
            <a:ext cx="5916601" cy="318664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DD67D1-03DE-4F47-8898-D91CC1AD61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7699" y="3429000"/>
            <a:ext cx="5916601" cy="25767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0F47F2-2DF8-4A49-BF37-2DA1FA554325}"/>
              </a:ext>
            </a:extLst>
          </p:cNvPr>
          <p:cNvSpPr txBox="1"/>
          <p:nvPr/>
        </p:nvSpPr>
        <p:spPr>
          <a:xfrm>
            <a:off x="0" y="175105"/>
            <a:ext cx="3175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00" b="1" i="0" dirty="0">
                <a:effectLst/>
                <a:latin typeface="ui-sans-serif"/>
              </a:rPr>
              <a:t>Category Tabs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Tab height: 40px, horizontal scroll on mobile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Active tab: #EA580C background (orange-600)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Inactive: #E5E7EB background, hover #D1D5DB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Text: 14px, 600 weight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Padding: 24px horizontal, 8px vertical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Why: Quick category switching improves browsing experience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07B2A1-CF10-4006-905C-58538185C19A}"/>
              </a:ext>
            </a:extLst>
          </p:cNvPr>
          <p:cNvSpPr txBox="1"/>
          <p:nvPr/>
        </p:nvSpPr>
        <p:spPr>
          <a:xfrm>
            <a:off x="9054300" y="1670404"/>
            <a:ext cx="2926033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00" b="1" i="0" dirty="0">
                <a:effectLst/>
                <a:latin typeface="ui-sans-serif"/>
              </a:rPr>
              <a:t>Product Grid Design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Grid: 3 columns desktop, 2 tablet, 1 mobile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Card size: 280px width, auto height, 16px padding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Product images: 320px height, 1:1 aspect ratio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Price text: 24px, 700 weight, #2563EB colour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Gap: 24px between cards (gap-6)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Why: Square images work best for equipment photos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566E66-B1A1-438C-836E-7A38DF9BE8E7}"/>
              </a:ext>
            </a:extLst>
          </p:cNvPr>
          <p:cNvSpPr txBox="1"/>
          <p:nvPr/>
        </p:nvSpPr>
        <p:spPr>
          <a:xfrm>
            <a:off x="321733" y="3556000"/>
            <a:ext cx="23960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Shopping Cart</a:t>
            </a:r>
          </a:p>
          <a:p>
            <a:r>
              <a:rPr lang="en-GB" sz="1200" dirty="0"/>
              <a:t>Sticky bottom bar: 72pc height, #EFF6FF background</a:t>
            </a:r>
          </a:p>
          <a:p>
            <a:r>
              <a:rPr lang="en-GB" sz="1200" dirty="0"/>
              <a:t>Item count badge: #DC2626 (red) circle with white text</a:t>
            </a:r>
          </a:p>
          <a:p>
            <a:r>
              <a:rPr lang="en-GB" sz="1200" dirty="0"/>
              <a:t>Continue button: #059669 (green-600), 48px height</a:t>
            </a:r>
          </a:p>
          <a:p>
            <a:r>
              <a:rPr lang="en-GB" sz="1200" dirty="0"/>
              <a:t>Updates in real time as items are selected</a:t>
            </a:r>
          </a:p>
          <a:p>
            <a:r>
              <a:rPr lang="en-GB" sz="1200" dirty="0"/>
              <a:t>Mobile: Fixed position, z-index 50</a:t>
            </a:r>
          </a:p>
          <a:p>
            <a:r>
              <a:rPr lang="en-GB" sz="1200" dirty="0"/>
              <a:t>Why: persistent cart access reduces friction in booking flow</a:t>
            </a:r>
          </a:p>
        </p:txBody>
      </p:sp>
    </p:spTree>
    <p:extLst>
      <p:ext uri="{BB962C8B-B14F-4D97-AF65-F5344CB8AC3E}">
        <p14:creationId xmlns:p14="http://schemas.microsoft.com/office/powerpoint/2010/main" val="269950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55AE79-8EE5-493D-9B0F-BC249ACC19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5875" y="378562"/>
            <a:ext cx="3844840" cy="22884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B34A17-0D99-4129-9CBC-0B06967B11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5875" y="2667000"/>
            <a:ext cx="3844840" cy="21092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742180-C7D2-434A-9A46-5A566A1FD4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336" y="4776208"/>
            <a:ext cx="3872379" cy="16372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F68D05-2493-42CA-87FE-97C05BD86A30}"/>
              </a:ext>
            </a:extLst>
          </p:cNvPr>
          <p:cNvSpPr txBox="1"/>
          <p:nvPr/>
        </p:nvSpPr>
        <p:spPr>
          <a:xfrm>
            <a:off x="381000" y="337210"/>
            <a:ext cx="44196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00" b="1" i="0" dirty="0">
                <a:effectLst/>
                <a:latin typeface="ui-sans-serif"/>
              </a:rPr>
              <a:t>Visual Callouts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Stats cards: 200px height, gradient background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Large numbers: 48px, 700 weight, #2563EB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Warning boxes: #FEF3C7 background, #F59E0B border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Important sections: 4px left border #3B82F6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Icon size: 24px with 8px margin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Why: Visual breaks make policy documents less intimidating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B50DA5-1D88-4142-945F-88017DCF6C35}"/>
              </a:ext>
            </a:extLst>
          </p:cNvPr>
          <p:cNvSpPr txBox="1"/>
          <p:nvPr/>
        </p:nvSpPr>
        <p:spPr>
          <a:xfrm>
            <a:off x="367230" y="1859340"/>
            <a:ext cx="400487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00" b="1" i="0" dirty="0">
                <a:effectLst/>
                <a:latin typeface="ui-sans-serif"/>
              </a:rPr>
              <a:t>Content Hierarchy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Max content width: 1024px for readability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H1: 36px, 700 weight, #111827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H2: 24px, 700 weight, #1F2937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Body text: 16px, line-height 1.75, #4B5563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Section spacing: 24px margin-bottom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Why: Clear typography hierarchy aids comprehension of legal 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E27400-2155-4B8D-BD93-82FEB40E09E9}"/>
              </a:ext>
            </a:extLst>
          </p:cNvPr>
          <p:cNvSpPr txBox="1"/>
          <p:nvPr/>
        </p:nvSpPr>
        <p:spPr>
          <a:xfrm>
            <a:off x="8331200" y="4597737"/>
            <a:ext cx="32512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00" b="1" i="0" dirty="0">
                <a:effectLst/>
                <a:latin typeface="ui-sans-serif"/>
              </a:rPr>
              <a:t>Color-Coded Sections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Overview: Blue (#EFF6FF) - informational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Pricing: Blue (#DBEAFE) - transparent costs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Cancellation: Yellow (#FEF3C7) - warning/caution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T&amp;Cs: Gray (#F9FAFB) - standard info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Discounts: Green (#D1FAE5) - positive/benefits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Why: Colour psychology guides user attention to key policies</a:t>
            </a:r>
          </a:p>
        </p:txBody>
      </p:sp>
    </p:spTree>
    <p:extLst>
      <p:ext uri="{BB962C8B-B14F-4D97-AF65-F5344CB8AC3E}">
        <p14:creationId xmlns:p14="http://schemas.microsoft.com/office/powerpoint/2010/main" val="4037388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04B9F7-8B5F-4C0E-92D7-A204EDBB44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7283" y="390525"/>
            <a:ext cx="4941788" cy="303847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FF475F-EF20-462E-A349-B1BD1D162F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7283" y="3429000"/>
            <a:ext cx="4937961" cy="29331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80B8DF-BD6B-4407-B62A-AE5EF8BDE219}"/>
              </a:ext>
            </a:extLst>
          </p:cNvPr>
          <p:cNvSpPr txBox="1"/>
          <p:nvPr/>
        </p:nvSpPr>
        <p:spPr>
          <a:xfrm>
            <a:off x="568864" y="2292915"/>
            <a:ext cx="318346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00" b="1" i="0" dirty="0">
                <a:effectLst/>
                <a:latin typeface="ui-sans-serif"/>
              </a:rPr>
              <a:t>Statistics Display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Stat cards: 4-column grid, equal width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Number size: 48px, 700 weight, #2563EB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Label: 14px, #6B7280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Card padding: 24px, white background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Border-radius: 8px with hover shadow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Why: Numbers build credibility and trust instantly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463007-72BD-49DF-BB74-1F16E6B01314}"/>
              </a:ext>
            </a:extLst>
          </p:cNvPr>
          <p:cNvSpPr txBox="1"/>
          <p:nvPr/>
        </p:nvSpPr>
        <p:spPr>
          <a:xfrm>
            <a:off x="8559800" y="524767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00" b="1" i="0" dirty="0">
                <a:effectLst/>
                <a:latin typeface="ui-sans-serif"/>
              </a:rPr>
              <a:t>Hero Story Section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Two-column grid: 60/40 text-to-image ratio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Gradient background: #EFF6FF to #E0E7FF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Heading: 32px, 700 weight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Body text: 16px, line-height 1.75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Image: 512px height, rounded-</a:t>
            </a:r>
            <a:r>
              <a:rPr lang="en-GB" sz="1200" b="0" i="0" dirty="0" err="1">
                <a:effectLst/>
                <a:latin typeface="ui-sans-serif"/>
              </a:rPr>
              <a:t>lg</a:t>
            </a:r>
            <a:r>
              <a:rPr lang="en-GB" sz="1200" b="0" i="0" dirty="0">
                <a:effectLst/>
                <a:latin typeface="ui-sans-serif"/>
              </a:rPr>
              <a:t> (8px)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Why: Visual storytelling builds emotional connection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46A037-4850-4081-8608-2D9FF18BBF74}"/>
              </a:ext>
            </a:extLst>
          </p:cNvPr>
          <p:cNvSpPr txBox="1"/>
          <p:nvPr/>
        </p:nvSpPr>
        <p:spPr>
          <a:xfrm>
            <a:off x="327340" y="4897815"/>
            <a:ext cx="310766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00" b="1" i="0" dirty="0">
                <a:effectLst/>
                <a:latin typeface="ui-sans-serif"/>
              </a:rPr>
              <a:t>Contact Section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Background: #EFF6FF (light blue) for distinction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Grid: 3 columns for address/contact/hours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Icons: 20px with #2563EB colour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Text: 14px, #374151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Click-to-call on phone, mail to on email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Why: Easy access to contact info improves support accessibility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3EEA70-5232-4868-A1F1-EBF57B19F87D}"/>
              </a:ext>
            </a:extLst>
          </p:cNvPr>
          <p:cNvSpPr txBox="1"/>
          <p:nvPr/>
        </p:nvSpPr>
        <p:spPr>
          <a:xfrm>
            <a:off x="8559800" y="3862575"/>
            <a:ext cx="284887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00" b="1" i="0" dirty="0">
                <a:effectLst/>
                <a:latin typeface="ui-sans-serif"/>
              </a:rPr>
              <a:t>Team Profile Cards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Grid: 3 columns, gap 24px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Profile image: 192px circle (rounded-full)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Name: 20px, 700 weight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Role: 14px, #6B7280, 500 weight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Bio text: 12px, line-height 1.5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Why: Personal photos humanize the brand, build rapport</a:t>
            </a:r>
          </a:p>
        </p:txBody>
      </p:sp>
    </p:spTree>
    <p:extLst>
      <p:ext uri="{BB962C8B-B14F-4D97-AF65-F5344CB8AC3E}">
        <p14:creationId xmlns:p14="http://schemas.microsoft.com/office/powerpoint/2010/main" val="452942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DD0F71-6A3D-4A7F-8EF1-8329A99F87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2126" y="111124"/>
            <a:ext cx="5213169" cy="331787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2E7CE9-9BA5-46AF-8D62-BB2454CE20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2126" y="3251200"/>
            <a:ext cx="5213169" cy="32251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C44ABE-0370-4499-9779-C0FF73EF0B98}"/>
              </a:ext>
            </a:extLst>
          </p:cNvPr>
          <p:cNvSpPr txBox="1"/>
          <p:nvPr/>
        </p:nvSpPr>
        <p:spPr>
          <a:xfrm>
            <a:off x="203199" y="296167"/>
            <a:ext cx="328506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00" b="1" i="0" dirty="0">
                <a:effectLst/>
                <a:latin typeface="ui-sans-serif"/>
              </a:rPr>
              <a:t>Form Field Design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Input height: 48px for easy touch/click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Date picker: Native HTML5 or custom calendar widget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Radio selections: 56px min height, clear clickable area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Labels: Always visible, 14px, 600 weight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Validation: Real-time on blur, errors in #DC2626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Why: Large touch targets improve mobile accessibility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C980A9-D875-4529-AC7E-2162D01AFBA6}"/>
              </a:ext>
            </a:extLst>
          </p:cNvPr>
          <p:cNvSpPr txBox="1"/>
          <p:nvPr/>
        </p:nvSpPr>
        <p:spPr>
          <a:xfrm>
            <a:off x="8969154" y="940138"/>
            <a:ext cx="3048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00" b="1" i="0" dirty="0">
                <a:effectLst/>
                <a:latin typeface="ui-sans-serif"/>
              </a:rPr>
              <a:t>Multi-Step Form Layout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Main form: 66% width (2/3 grid), sidebar 33% (1/3)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Section cards: 24px padding, 16px margin-bottom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Step numbers in headings for clarity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Progress indicator at top (planned)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Mobile: Sidebar moves below form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Why: Chunking reduces cognitive load, increases completion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37B24B-6BCC-45BC-BFAF-B29222ABF5E8}"/>
              </a:ext>
            </a:extLst>
          </p:cNvPr>
          <p:cNvSpPr txBox="1"/>
          <p:nvPr/>
        </p:nvSpPr>
        <p:spPr>
          <a:xfrm>
            <a:off x="8969154" y="4168027"/>
            <a:ext cx="230293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00" b="1" i="0" dirty="0">
                <a:effectLst/>
                <a:latin typeface="ui-sans-serif"/>
              </a:rPr>
              <a:t>Sticky Summary Sidebar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Position: sticky, top 16px offset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Background: white with shadow-</a:t>
            </a:r>
            <a:r>
              <a:rPr lang="en-GB" sz="1200" b="0" i="0" dirty="0" err="1">
                <a:effectLst/>
                <a:latin typeface="ui-sans-serif"/>
              </a:rPr>
              <a:t>lg</a:t>
            </a:r>
            <a:endParaRPr lang="en-GB" sz="1200" b="0" i="0" dirty="0">
              <a:effectLst/>
              <a:latin typeface="ui-sans-serif"/>
            </a:endParaRPr>
          </a:p>
          <a:p>
            <a:pPr algn="l"/>
            <a:r>
              <a:rPr lang="en-GB" sz="1200" b="0" i="0" dirty="0">
                <a:effectLst/>
                <a:latin typeface="ui-sans-serif"/>
              </a:rPr>
              <a:t>Updates dynamically as user fills form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Total: 24px font, 700 weight, #2563EB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Submit button: #10B981 (green-600), 56px height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Why: Constant visibility of booking details builds confidence</a:t>
            </a:r>
          </a:p>
        </p:txBody>
      </p:sp>
    </p:spTree>
    <p:extLst>
      <p:ext uri="{BB962C8B-B14F-4D97-AF65-F5344CB8AC3E}">
        <p14:creationId xmlns:p14="http://schemas.microsoft.com/office/powerpoint/2010/main" val="1741104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C9D343-CE63-41F1-AA1A-A1714A8B72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0568" y="82296"/>
            <a:ext cx="7111331" cy="362897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1B13EB-11A2-480E-9D98-C20311802D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5938" y="3665299"/>
            <a:ext cx="7005961" cy="31104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9420D8-7744-4881-9F5B-2A32DC72F363}"/>
              </a:ext>
            </a:extLst>
          </p:cNvPr>
          <p:cNvSpPr txBox="1"/>
          <p:nvPr/>
        </p:nvSpPr>
        <p:spPr>
          <a:xfrm>
            <a:off x="126071" y="372871"/>
            <a:ext cx="231986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00" b="1" i="0" dirty="0">
                <a:effectLst/>
                <a:latin typeface="ui-sans-serif"/>
              </a:rPr>
              <a:t>Filter Tab System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Tab height: 40px, horizontal layout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Active tab: #2563EB background, white text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Count badges: Circle, 18px, positioned top-right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Inactive: #E5E7EB background, hover #D1D5DB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Padding: 24px horizontal, 8px vertical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Why: Quick filtering reduces overwhelm for active users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9ECE70-4174-4490-8A58-191F6F5281F9}"/>
              </a:ext>
            </a:extLst>
          </p:cNvPr>
          <p:cNvSpPr txBox="1"/>
          <p:nvPr/>
        </p:nvSpPr>
        <p:spPr>
          <a:xfrm>
            <a:off x="9635996" y="499871"/>
            <a:ext cx="2429933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00" b="1" i="0" dirty="0">
                <a:effectLst/>
                <a:latin typeface="ui-sans-serif"/>
              </a:rPr>
              <a:t>Status-Based Colour Coding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Pending: Yellow (#FEF3C7 </a:t>
            </a:r>
            <a:r>
              <a:rPr lang="en-GB" sz="1200" b="0" i="0" dirty="0" err="1">
                <a:effectLst/>
                <a:latin typeface="ui-sans-serif"/>
              </a:rPr>
              <a:t>bg</a:t>
            </a:r>
            <a:r>
              <a:rPr lang="en-GB" sz="1200" b="0" i="0" dirty="0">
                <a:effectLst/>
                <a:latin typeface="ui-sans-serif"/>
              </a:rPr>
              <a:t>, #F59E0B border)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Confirmed: Green (#D1FAE5 </a:t>
            </a:r>
            <a:r>
              <a:rPr lang="en-GB" sz="1200" b="0" i="0" dirty="0" err="1">
                <a:effectLst/>
                <a:latin typeface="ui-sans-serif"/>
              </a:rPr>
              <a:t>bg</a:t>
            </a:r>
            <a:r>
              <a:rPr lang="en-GB" sz="1200" b="0" i="0" dirty="0">
                <a:effectLst/>
                <a:latin typeface="ui-sans-serif"/>
              </a:rPr>
              <a:t>, #10B981 border)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Completed: Gray (#F3F4F6 </a:t>
            </a:r>
            <a:r>
              <a:rPr lang="en-GB" sz="1200" b="0" i="0" dirty="0" err="1">
                <a:effectLst/>
                <a:latin typeface="ui-sans-serif"/>
              </a:rPr>
              <a:t>bg</a:t>
            </a:r>
            <a:r>
              <a:rPr lang="en-GB" sz="1200" b="0" i="0" dirty="0">
                <a:effectLst/>
                <a:latin typeface="ui-sans-serif"/>
              </a:rPr>
              <a:t>, #6B7280 border)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Cancelled: Red (#FEE2E2 </a:t>
            </a:r>
            <a:r>
              <a:rPr lang="en-GB" sz="1200" b="0" i="0" dirty="0" err="1">
                <a:effectLst/>
                <a:latin typeface="ui-sans-serif"/>
              </a:rPr>
              <a:t>bg</a:t>
            </a:r>
            <a:r>
              <a:rPr lang="en-GB" sz="1200" b="0" i="0" dirty="0">
                <a:effectLst/>
                <a:latin typeface="ui-sans-serif"/>
              </a:rPr>
              <a:t>, #EF4444 border)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Left border: 4px solid to indicate status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Why: Colour psychology for instant status recognition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B9AC6C-228C-4833-B5A5-4EC32007E5FE}"/>
              </a:ext>
            </a:extLst>
          </p:cNvPr>
          <p:cNvSpPr txBox="1"/>
          <p:nvPr/>
        </p:nvSpPr>
        <p:spPr>
          <a:xfrm>
            <a:off x="9451899" y="4158672"/>
            <a:ext cx="249766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00" b="1" i="0" dirty="0">
                <a:effectLst/>
                <a:latin typeface="ui-sans-serif"/>
              </a:rPr>
              <a:t>Booking Card Information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Card padding: 24px all sides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Grid layout: 4 columns for booking details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Booking ID: Monospace font for clarity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Price: 32px, 700 weight, right-aligned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Action buttons: Equal width (flex-1), 40px height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Why: Horizontal data display shows more info above fold</a:t>
            </a:r>
          </a:p>
        </p:txBody>
      </p:sp>
    </p:spTree>
    <p:extLst>
      <p:ext uri="{BB962C8B-B14F-4D97-AF65-F5344CB8AC3E}">
        <p14:creationId xmlns:p14="http://schemas.microsoft.com/office/powerpoint/2010/main" val="360672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1509</Words>
  <Application>Microsoft Office PowerPoint</Application>
  <PresentationFormat>Widescreen</PresentationFormat>
  <Paragraphs>176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ui-sans-serif</vt:lpstr>
      <vt:lpstr>Office Theme</vt:lpstr>
      <vt:lpstr>My humblest apologies &lt;/3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Zuzanna</dc:creator>
  <cp:lastModifiedBy>Zuzanna</cp:lastModifiedBy>
  <cp:revision>14</cp:revision>
  <dcterms:created xsi:type="dcterms:W3CDTF">2026-01-30T11:05:08Z</dcterms:created>
  <dcterms:modified xsi:type="dcterms:W3CDTF">2026-01-30T13:19:35Z</dcterms:modified>
</cp:coreProperties>
</file>