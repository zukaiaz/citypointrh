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4D6A7-54C8-4CC9-B218-A76EC9526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33712-1F7F-4C5E-B025-039E5FCB1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3F63B-3FD0-4D54-85AB-34F33794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557C-017A-405F-B6F8-C9ADE57A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F1427-609C-4EE2-BADF-E688E7ED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787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DEE00-5A78-4894-8CE7-A5A9CF93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506F6-99D0-4416-A815-774C0B9BC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1AC58-984A-4A14-A4A8-45FA0055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B5660-2F46-4A55-880E-9F8334D0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CAAF-FF1F-4C97-AC1D-35213D60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252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F4EB-38F5-414C-99D5-5AAD7019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B7510-DAD7-48A2-AE50-D01FFD057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84282-2258-45C7-ACEA-9AF7E767E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AF25F-5211-4D0F-A51E-194D6D596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D75FB-9DDB-49B4-8663-C4E6852E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76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71F82-B6E4-40B8-87A7-46BAB0D7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8A45F-BBA7-406A-A809-31B3D69B6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9A578-AEC9-4239-9771-1E50532BF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7D47A-4750-402E-9D2C-19D068F4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FC8D5-8FDA-463C-B219-380005FB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70544-A1B7-41F2-910D-14FF1874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10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99C67-DAF4-46CA-94FA-040AC726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035BC-8215-4FA2-82F4-2C0C72B6F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ED599-CB82-4FF6-BFF8-2C57F2A50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E1952-E58A-469F-89D0-2AA377D0C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CE27B-AC42-4FBD-AB92-B18EA346F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391D7-AF60-4513-8AE4-A64A9AE1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6AAAB-3505-4E68-B01D-125BD782C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327A9-D65B-4775-9BC4-83E267C9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32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7A33-9042-4443-A77D-8846CE5CC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D54BD-0D9C-444E-A9A1-1F62A01F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C1C02-68AE-463F-B95B-D38537BC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1936A-F36F-4223-B513-B0F343A3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59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658E3-FCB3-4E37-90D8-553E7411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BC962-FD15-4457-B843-A5EFDAEA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E15B5-740D-4EAE-A7D0-826F7480E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67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EE50-2F7A-4B7B-877F-B958D1F7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29B8-A7E4-4C5B-BF75-2E452276A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50FCD-3532-40C3-B32E-27291B874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00B6B-C77E-465D-B7E5-5B9FFF60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8C351-A175-41B5-8FFC-56E083A68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FCBC1-C938-48F2-AB6F-83DA0610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95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DB0E2-95DA-45F3-9F04-80A9467E4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0BE92-2351-4087-A83F-D342F8DF1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A0545-78E1-47B5-A219-B0A58689E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AE688-4D26-4C5A-BEC7-31586556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0BDBF-6DF3-4B05-B508-F68A7B16D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B0BBE-CB1B-494B-A2E3-13EC2A42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44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C04B-3E4E-4DF8-95DE-593369E7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FCB6C-6707-446F-A067-FE530CF14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FC080-3105-406C-9A57-51D9FA29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EE660-D563-4588-9994-797CC0FFC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173B5-EF24-4A21-815A-34788CDE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137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E7B59-FCB0-40F9-830F-D9B3A77E04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371B-4844-4DDF-84DE-43DE3FC8A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2479E-2DD0-44E6-892E-481661EC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FFD6-453F-41D1-8179-493B3E3B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B8D58-347D-4779-B1CA-31F2ABB0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90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CD422E-06F2-46A3-A913-6F1D670CA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02055-7583-481D-A992-A64D3B82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C261-4941-4037-9DC0-3AED12F01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AED18-5575-4069-9E55-AEAFD31BDC1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EF22A-F294-40FF-A277-0277C90A3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E0E8-8202-4CBE-BC5E-D645B00AB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EF66B-AD20-4B7A-9E56-2C94BA41BC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27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BF4E0E-5100-486B-9658-761E0F12E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531" y="0"/>
            <a:ext cx="7584937" cy="41877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400721-FCC9-44E8-94B2-E66E734F2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531" y="4187722"/>
            <a:ext cx="7584937" cy="238421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F262E8-1C82-4403-AC95-24630E3CE4BD}"/>
              </a:ext>
            </a:extLst>
          </p:cNvPr>
          <p:cNvSpPr/>
          <p:nvPr/>
        </p:nvSpPr>
        <p:spPr>
          <a:xfrm>
            <a:off x="237066" y="110067"/>
            <a:ext cx="1701800" cy="626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Will be clickable on every page and will send the user to the home page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55BE83-B0FB-4C30-B7D9-124371B22984}"/>
              </a:ext>
            </a:extLst>
          </p:cNvPr>
          <p:cNvCxnSpPr>
            <a:stCxn id="3" idx="3"/>
          </p:cNvCxnSpPr>
          <p:nvPr/>
        </p:nvCxnSpPr>
        <p:spPr>
          <a:xfrm flipV="1">
            <a:off x="1938866" y="270933"/>
            <a:ext cx="465667" cy="152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B2E2A67-EAE5-4128-93C5-5A4A82D35B24}"/>
              </a:ext>
            </a:extLst>
          </p:cNvPr>
          <p:cNvSpPr/>
          <p:nvPr/>
        </p:nvSpPr>
        <p:spPr>
          <a:xfrm>
            <a:off x="9990667" y="2836333"/>
            <a:ext cx="2108200" cy="1185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These will take the user to the already filtered Rooms page as a short cut to improve user experience with the website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54DFFC-570E-464C-8B34-02761D47835F}"/>
              </a:ext>
            </a:extLst>
          </p:cNvPr>
          <p:cNvSpPr/>
          <p:nvPr/>
        </p:nvSpPr>
        <p:spPr>
          <a:xfrm>
            <a:off x="63499" y="3874454"/>
            <a:ext cx="2108200" cy="1671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These show that the company has all these things, which will gain user trust. It’s on the home page so it’ll be one of the first things users notice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E2EB29-8D8F-41E7-9868-5A744D8ED246}"/>
              </a:ext>
            </a:extLst>
          </p:cNvPr>
          <p:cNvSpPr/>
          <p:nvPr/>
        </p:nvSpPr>
        <p:spPr>
          <a:xfrm>
            <a:off x="10032702" y="601131"/>
            <a:ext cx="2006898" cy="1981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background should be white, with each card being a lighter version of the accent colour (blue)</a:t>
            </a:r>
          </a:p>
        </p:txBody>
      </p:sp>
    </p:spTree>
    <p:extLst>
      <p:ext uri="{BB962C8B-B14F-4D97-AF65-F5344CB8AC3E}">
        <p14:creationId xmlns:p14="http://schemas.microsoft.com/office/powerpoint/2010/main" val="262142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949B15-201E-4325-9011-F41132255ACC}"/>
              </a:ext>
            </a:extLst>
          </p:cNvPr>
          <p:cNvSpPr/>
          <p:nvPr/>
        </p:nvSpPr>
        <p:spPr>
          <a:xfrm>
            <a:off x="152399" y="203200"/>
            <a:ext cx="1964266" cy="218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50" b="1" i="0" dirty="0">
                <a:effectLst/>
                <a:latin typeface="ui-sans-serif"/>
              </a:rPr>
              <a:t>Navigation Bar</a:t>
            </a:r>
          </a:p>
          <a:p>
            <a:pPr algn="l"/>
            <a:r>
              <a:rPr lang="en-GB" sz="1050" b="0" i="0" dirty="0">
                <a:effectLst/>
                <a:latin typeface="ui-sans-serif"/>
              </a:rPr>
              <a:t>-Height: 64px fixed, background #2563EB (blue-600)</a:t>
            </a:r>
          </a:p>
          <a:p>
            <a:pPr algn="l"/>
            <a:r>
              <a:rPr lang="en-GB" sz="1050" b="0" i="0" dirty="0">
                <a:effectLst/>
                <a:latin typeface="ui-sans-serif"/>
              </a:rPr>
              <a:t>-Logo: 24px font-size, 700 weight</a:t>
            </a:r>
          </a:p>
          <a:p>
            <a:pPr algn="l"/>
            <a:r>
              <a:rPr lang="en-GB" sz="1050" b="0" i="0" dirty="0">
                <a:effectLst/>
                <a:latin typeface="ui-sans-serif"/>
              </a:rPr>
              <a:t>-Nav items: 14px font-size, 12px horizontal padding</a:t>
            </a:r>
          </a:p>
          <a:p>
            <a:pPr algn="l"/>
            <a:r>
              <a:rPr lang="en-GB" sz="1050" dirty="0">
                <a:latin typeface="ui-sans-serif"/>
              </a:rPr>
              <a:t>-</a:t>
            </a:r>
            <a:r>
              <a:rPr lang="en-GB" sz="1050" b="0" i="0" dirty="0">
                <a:effectLst/>
                <a:latin typeface="ui-sans-serif"/>
              </a:rPr>
              <a:t>Login button: white background, #2563EB text, 6px border-radius</a:t>
            </a:r>
          </a:p>
          <a:p>
            <a:pPr algn="l"/>
            <a:r>
              <a:rPr lang="en-GB" sz="1050" dirty="0">
                <a:latin typeface="ui-sans-serif"/>
              </a:rPr>
              <a:t>-</a:t>
            </a:r>
            <a:r>
              <a:rPr lang="en-GB" sz="1050" b="0" i="0" dirty="0">
                <a:effectLst/>
                <a:latin typeface="ui-sans-serif"/>
              </a:rPr>
              <a:t>Sticky positioning on scroll for easy access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6D5FF9-95E6-4D78-8083-F39036BFE3C4}"/>
              </a:ext>
            </a:extLst>
          </p:cNvPr>
          <p:cNvSpPr/>
          <p:nvPr/>
        </p:nvSpPr>
        <p:spPr>
          <a:xfrm>
            <a:off x="2506132" y="296333"/>
            <a:ext cx="2667001" cy="2091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100" b="1" i="0" dirty="0">
                <a:effectLst/>
                <a:latin typeface="ui-sans-serif"/>
              </a:rPr>
              <a:t>Hero Section Design</a:t>
            </a:r>
          </a:p>
          <a:p>
            <a:pPr algn="l"/>
            <a:r>
              <a:rPr lang="en-GB" sz="1100" b="0" i="0" dirty="0">
                <a:effectLst/>
                <a:latin typeface="ui-sans-serif"/>
              </a:rPr>
              <a:t>-Hero height: 400px with gradient background (#EFF6FF to #E0E7FF)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 Heading: 48px font-size, 700 weight, #1F2937 colour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Subtext: 18px, line-height 28px for readability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CTA buttons: 48px height, 16px padding, rounded-</a:t>
            </a:r>
            <a:r>
              <a:rPr lang="en-GB" sz="1100" b="0" i="0" dirty="0" err="1">
                <a:effectLst/>
                <a:latin typeface="ui-sans-serif"/>
              </a:rPr>
              <a:t>lg</a:t>
            </a:r>
            <a:r>
              <a:rPr lang="en-GB" sz="1100" b="0" i="0" dirty="0">
                <a:effectLst/>
                <a:latin typeface="ui-sans-serif"/>
              </a:rPr>
              <a:t> (8px)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Primary button: #3B82F6 (blue-600), Secondary: #10B981 (green-600)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7FF5D9-6083-426B-8F14-90B2FC8AFB4B}"/>
              </a:ext>
            </a:extLst>
          </p:cNvPr>
          <p:cNvSpPr/>
          <p:nvPr/>
        </p:nvSpPr>
        <p:spPr>
          <a:xfrm>
            <a:off x="5562598" y="364067"/>
            <a:ext cx="2269067" cy="2023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100" b="1" i="0" dirty="0">
                <a:effectLst/>
                <a:latin typeface="ui-sans-serif"/>
              </a:rPr>
              <a:t>Quick Links Grid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Grid: 4 columns on desktop, 2 on tablet, 1 on mobile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 Card size: Min-height 200px with 24px padding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Images: 192px height, 16:9 aspect ratio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Hover effect: </a:t>
            </a:r>
            <a:r>
              <a:rPr lang="en-GB" sz="1100" b="0" i="0" dirty="0" err="1">
                <a:effectLst/>
                <a:latin typeface="ui-sans-serif"/>
              </a:rPr>
              <a:t>translateY</a:t>
            </a:r>
            <a:r>
              <a:rPr lang="en-GB" sz="1100" b="0" i="0" dirty="0">
                <a:effectLst/>
                <a:latin typeface="ui-sans-serif"/>
              </a:rPr>
              <a:t>(-4px) with shadow-xl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 Gap between cards: 16px (gap-4)</a:t>
            </a:r>
          </a:p>
        </p:txBody>
      </p:sp>
    </p:spTree>
    <p:extLst>
      <p:ext uri="{BB962C8B-B14F-4D97-AF65-F5344CB8AC3E}">
        <p14:creationId xmlns:p14="http://schemas.microsoft.com/office/powerpoint/2010/main" val="113360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48A1D5-F847-40BA-BBE0-6DA3ED468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776" y="592666"/>
            <a:ext cx="6199300" cy="3928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E97C39-F8C4-4607-9C1D-FE546AE3C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776" y="4521199"/>
            <a:ext cx="6176385" cy="17397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84FD9C-DB54-408B-BBC6-9A767D4FD489}"/>
              </a:ext>
            </a:extLst>
          </p:cNvPr>
          <p:cNvSpPr/>
          <p:nvPr/>
        </p:nvSpPr>
        <p:spPr>
          <a:xfrm>
            <a:off x="270933" y="211666"/>
            <a:ext cx="2438400" cy="264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100" b="1" i="0" dirty="0">
                <a:effectLst/>
                <a:latin typeface="ui-sans-serif"/>
              </a:rPr>
              <a:t>Accessibility Feature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All inputs have visible labels (not placeholders)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Tab index order: flows naturally top to bottom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Error messages: #DC2626 (red-600) with icons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Min contrast ratio: 4.5:1 for WCAG AA compliance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Checkbox: 16px touch target, increased to 44px on mobile</a:t>
            </a:r>
          </a:p>
          <a:p>
            <a:pPr algn="l"/>
            <a:r>
              <a:rPr lang="en-GB" sz="1100" dirty="0">
                <a:latin typeface="ui-sans-serif"/>
              </a:rPr>
              <a:t>-</a:t>
            </a:r>
            <a:r>
              <a:rPr lang="en-GB" sz="1100" b="0" i="0" dirty="0">
                <a:effectLst/>
                <a:latin typeface="ui-sans-serif"/>
              </a:rPr>
              <a:t>Why: Meets WCAG 2.1 AA standards for inclusive design</a:t>
            </a:r>
          </a:p>
          <a:p>
            <a:pPr algn="ctr"/>
            <a:endParaRPr lang="en-GB" sz="1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0D479B-5FEF-4970-ABE6-2E54BF44DCD7}"/>
              </a:ext>
            </a:extLst>
          </p:cNvPr>
          <p:cNvSpPr/>
          <p:nvPr/>
        </p:nvSpPr>
        <p:spPr>
          <a:xfrm>
            <a:off x="9567333" y="110067"/>
            <a:ext cx="2438400" cy="264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Form Layout Design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Two-column grid: 50/50 split on desktop (max-width 1024px)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Form container: 600px max-width each, 24px padding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Input fields: 48px height, 16px text, 12px border-radius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Labels: 14px font-size, 600 weight, #374151 colour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Focus state: #3B82F6 border (2px), #DBEAFE background</a:t>
            </a:r>
          </a:p>
          <a:p>
            <a:pPr algn="ctr"/>
            <a:endParaRPr lang="en-GB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B0801-3102-4AF6-804A-66328A4401F0}"/>
              </a:ext>
            </a:extLst>
          </p:cNvPr>
          <p:cNvSpPr/>
          <p:nvPr/>
        </p:nvSpPr>
        <p:spPr>
          <a:xfrm>
            <a:off x="126779" y="4241800"/>
            <a:ext cx="2836776" cy="2091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Security &amp; Trust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Password field: type="password" with show/hide toggle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Benefits section: #EFF6FF background, builds trust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Terms checkbox: Required before registration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>
                <a:effectLst/>
                <a:latin typeface="ui-sans-serif"/>
              </a:rPr>
              <a:t>SSL badge in footer (planned)</a:t>
            </a:r>
          </a:p>
          <a:p>
            <a:pPr algn="l"/>
            <a:r>
              <a:rPr lang="en-GB" sz="1200" dirty="0">
                <a:latin typeface="ui-sans-serif"/>
              </a:rPr>
              <a:t>-</a:t>
            </a:r>
            <a:r>
              <a:rPr lang="en-GB" sz="1200" b="0" i="0" dirty="0" err="1">
                <a:effectLst/>
                <a:latin typeface="ui-sans-serif"/>
              </a:rPr>
              <a:t>Colors</a:t>
            </a:r>
            <a:r>
              <a:rPr lang="en-GB" sz="1200" b="0" i="0" dirty="0">
                <a:effectLst/>
                <a:latin typeface="ui-sans-serif"/>
              </a:rPr>
              <a:t>: Blue (#3B82F6) for trust, Green (#10B981) for action</a:t>
            </a:r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F1FF01-B7C5-444C-B6EF-81F6E439BD77}"/>
              </a:ext>
            </a:extLst>
          </p:cNvPr>
          <p:cNvSpPr/>
          <p:nvPr/>
        </p:nvSpPr>
        <p:spPr>
          <a:xfrm>
            <a:off x="9651999" y="3937000"/>
            <a:ext cx="2065867" cy="1261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Terms and conditions so the user understands that if they break any of them, they will be held liable and not the company</a:t>
            </a:r>
          </a:p>
        </p:txBody>
      </p:sp>
    </p:spTree>
    <p:extLst>
      <p:ext uri="{BB962C8B-B14F-4D97-AF65-F5344CB8AC3E}">
        <p14:creationId xmlns:p14="http://schemas.microsoft.com/office/powerpoint/2010/main" val="3139141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DCFC6C-57BB-4245-9879-375DDB763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93" y="147206"/>
            <a:ext cx="5545908" cy="3105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9C0CA-94CF-4F9E-B81A-9B0A327F0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93" y="3226826"/>
            <a:ext cx="5545908" cy="34839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4A716D-001C-464F-A841-2724BE97B1F7}"/>
              </a:ext>
            </a:extLst>
          </p:cNvPr>
          <p:cNvSpPr txBox="1"/>
          <p:nvPr/>
        </p:nvSpPr>
        <p:spPr>
          <a:xfrm>
            <a:off x="355601" y="335971"/>
            <a:ext cx="2743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Room Card Layout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Card height: min-height 240px, full-width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Image: 256px width, 192px height, object-fit cover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Grid on stats: 3 columns, gap-16px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Facility badges: #DBEAFE background, #1E40AF text, 6px rounded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Padding: 24px all around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Horizontal cards show more info without scrolling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43AA5-6CB9-4684-89EC-448D932852A0}"/>
              </a:ext>
            </a:extLst>
          </p:cNvPr>
          <p:cNvSpPr txBox="1"/>
          <p:nvPr/>
        </p:nvSpPr>
        <p:spPr>
          <a:xfrm>
            <a:off x="9186093" y="262805"/>
            <a:ext cx="27432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Filter System Design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Filter bar: 80px height, #F9FAFB background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Dropdown selects: 40px height, 12px padding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Filter button: #3B82F6, transitions on 300ms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Mobile: Filters collapse into drawer/modal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Active filters show as removable chips below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Instant filtering helps users find rooms quickly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FE3D9-531B-47B4-BA6F-EC55C38C6833}"/>
              </a:ext>
            </a:extLst>
          </p:cNvPr>
          <p:cNvSpPr txBox="1"/>
          <p:nvPr/>
        </p:nvSpPr>
        <p:spPr>
          <a:xfrm>
            <a:off x="9262533" y="3814648"/>
            <a:ext cx="253999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CTA Button Strategy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Primary CTA "Book This Room": #10B981 (green), 48px height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Secondary "View Details": #3B82F6, ghost style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Button width: flex-1 (equal distribution)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Hover: brightness(110%), shadow-</a:t>
            </a:r>
            <a:r>
              <a:rPr lang="en-GB" sz="1200" b="0" i="0" dirty="0" err="1">
                <a:effectLst/>
                <a:latin typeface="ui-sans-serif"/>
              </a:rPr>
              <a:t>lg</a:t>
            </a:r>
            <a:endParaRPr lang="en-GB" sz="1200" b="0" i="0" dirty="0">
              <a:effectLst/>
              <a:latin typeface="ui-sans-serif"/>
            </a:endParaRPr>
          </a:p>
          <a:p>
            <a:pPr algn="l"/>
            <a:r>
              <a:rPr lang="en-GB" sz="1200" b="0" i="0" dirty="0">
                <a:effectLst/>
                <a:latin typeface="ui-sans-serif"/>
              </a:rPr>
              <a:t>Text: 16px, 600 weight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Green signals action, blue for information gathering</a:t>
            </a:r>
          </a:p>
        </p:txBody>
      </p:sp>
    </p:spTree>
    <p:extLst>
      <p:ext uri="{BB962C8B-B14F-4D97-AF65-F5344CB8AC3E}">
        <p14:creationId xmlns:p14="http://schemas.microsoft.com/office/powerpoint/2010/main" val="571099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10CE8B-F81D-45C8-BA56-006CE87BA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99" y="242358"/>
            <a:ext cx="5916601" cy="318664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DD67D1-03DE-4F47-8898-D91CC1AD6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99" y="3429000"/>
            <a:ext cx="5916601" cy="2576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0F47F2-2DF8-4A49-BF37-2DA1FA554325}"/>
              </a:ext>
            </a:extLst>
          </p:cNvPr>
          <p:cNvSpPr txBox="1"/>
          <p:nvPr/>
        </p:nvSpPr>
        <p:spPr>
          <a:xfrm>
            <a:off x="0" y="175105"/>
            <a:ext cx="3175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Category Tabs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Tab height: 40px, horizontal scroll on mobile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Active tab: #EA580C background (orange-600)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Inactive: #E5E7EB background, hover #D1D5DB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Text: 14px, 600 weight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Padding: 24px horizontal, 8px vertical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Quick category switching improves browsing experience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7B2A1-CF10-4006-905C-58538185C19A}"/>
              </a:ext>
            </a:extLst>
          </p:cNvPr>
          <p:cNvSpPr txBox="1"/>
          <p:nvPr/>
        </p:nvSpPr>
        <p:spPr>
          <a:xfrm>
            <a:off x="9054300" y="1670404"/>
            <a:ext cx="292603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Product Grid Design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Grid: 3 columns desktop, 2 tablet, 1 mobile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Card size: 280px width, auto height, 16px padding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Product images: 320px height, 1:1 aspect ratio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Price text: 24px, 700 weight, #2563EB colour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Gap: 24px between cards (gap-6)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Square images work best for equipment photos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66E66-B1A1-438C-836E-7A38DF9BE8E7}"/>
              </a:ext>
            </a:extLst>
          </p:cNvPr>
          <p:cNvSpPr txBox="1"/>
          <p:nvPr/>
        </p:nvSpPr>
        <p:spPr>
          <a:xfrm>
            <a:off x="321733" y="3556000"/>
            <a:ext cx="2396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Shopping Cart</a:t>
            </a:r>
          </a:p>
          <a:p>
            <a:r>
              <a:rPr lang="en-GB" sz="1200" dirty="0"/>
              <a:t>Sticky bottom bar: 72pc height, #EFF6FF background</a:t>
            </a:r>
          </a:p>
          <a:p>
            <a:r>
              <a:rPr lang="en-GB" sz="1200" dirty="0"/>
              <a:t>Item count badge: #DC2626 (red) circle with white text</a:t>
            </a:r>
          </a:p>
          <a:p>
            <a:r>
              <a:rPr lang="en-GB" sz="1200" dirty="0"/>
              <a:t>Continue button: #059669 (green-600), 48px height</a:t>
            </a:r>
          </a:p>
          <a:p>
            <a:r>
              <a:rPr lang="en-GB" sz="1200" dirty="0"/>
              <a:t>Updates in real time as items are selected</a:t>
            </a:r>
          </a:p>
          <a:p>
            <a:r>
              <a:rPr lang="en-GB" sz="1200" dirty="0"/>
              <a:t>Mobile: Fixed position, z-index 50</a:t>
            </a:r>
          </a:p>
          <a:p>
            <a:r>
              <a:rPr lang="en-GB" sz="1200" dirty="0"/>
              <a:t>Why: persistent cart access reduces friction in booking flow</a:t>
            </a:r>
          </a:p>
        </p:txBody>
      </p:sp>
    </p:spTree>
    <p:extLst>
      <p:ext uri="{BB962C8B-B14F-4D97-AF65-F5344CB8AC3E}">
        <p14:creationId xmlns:p14="http://schemas.microsoft.com/office/powerpoint/2010/main" val="26995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55AE79-8EE5-493D-9B0F-BC249ACC1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875" y="378562"/>
            <a:ext cx="3844840" cy="2288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B34A17-0D99-4129-9CBC-0B06967B1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875" y="2667000"/>
            <a:ext cx="3844840" cy="21092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742180-C7D2-434A-9A46-5A566A1FD4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336" y="4776208"/>
            <a:ext cx="3872379" cy="16372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F68D05-2493-42CA-87FE-97C05BD86A30}"/>
              </a:ext>
            </a:extLst>
          </p:cNvPr>
          <p:cNvSpPr txBox="1"/>
          <p:nvPr/>
        </p:nvSpPr>
        <p:spPr>
          <a:xfrm>
            <a:off x="381000" y="337210"/>
            <a:ext cx="441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Visual Callouts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Stats cards: 200px height, gradient background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Large numbers: 48px, 700 weight, #2563EB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Warning boxes: #FEF3C7 background, #F59E0B border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Important sections: 4px left border #3B82F6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Icon size: 24px with 8px margin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Visual breaks make policy documents less intimidating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B50DA5-1D88-4142-945F-88017DCF6C35}"/>
              </a:ext>
            </a:extLst>
          </p:cNvPr>
          <p:cNvSpPr txBox="1"/>
          <p:nvPr/>
        </p:nvSpPr>
        <p:spPr>
          <a:xfrm>
            <a:off x="367230" y="1859340"/>
            <a:ext cx="40048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Content Hierarchy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Max content width: 1024px for readability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H1: 36px, 700 weight, #111827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H2: 24px, 700 weight, #1F2937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Body text: 16px, line-height 1.75, #4B5563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Section spacing: 24px margin-bottom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Clear typography hierarchy aids comprehension of legal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27400-2155-4B8D-BD93-82FEB40E09E9}"/>
              </a:ext>
            </a:extLst>
          </p:cNvPr>
          <p:cNvSpPr txBox="1"/>
          <p:nvPr/>
        </p:nvSpPr>
        <p:spPr>
          <a:xfrm>
            <a:off x="8331200" y="4597737"/>
            <a:ext cx="3251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Color-Coded Sections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Overview: Blue (#EFF6FF) - informational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Pricing: Blue (#DBEAFE) - transparent costs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Cancellation: Yellow (#FEF3C7) - warning/caution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T&amp;Cs: Gray (#F9FAFB) - standard info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Discounts: Green (#D1FAE5) - positive/benefits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Colour psychology guides user attention to key policies</a:t>
            </a:r>
          </a:p>
        </p:txBody>
      </p:sp>
    </p:spTree>
    <p:extLst>
      <p:ext uri="{BB962C8B-B14F-4D97-AF65-F5344CB8AC3E}">
        <p14:creationId xmlns:p14="http://schemas.microsoft.com/office/powerpoint/2010/main" val="4037388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04B9F7-8B5F-4C0E-92D7-A204EDBB4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283" y="390525"/>
            <a:ext cx="4941788" cy="30384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FF475F-EF20-462E-A349-B1BD1D162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283" y="3429000"/>
            <a:ext cx="4937961" cy="2933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80B8DF-BD6B-4407-B62A-AE5EF8BDE219}"/>
              </a:ext>
            </a:extLst>
          </p:cNvPr>
          <p:cNvSpPr txBox="1"/>
          <p:nvPr/>
        </p:nvSpPr>
        <p:spPr>
          <a:xfrm>
            <a:off x="482600" y="390525"/>
            <a:ext cx="31834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1" i="0" dirty="0">
                <a:effectLst/>
                <a:latin typeface="ui-sans-serif"/>
              </a:rPr>
              <a:t>Statistics Display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Stat cards: 4-column grid, equal width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Number size: 48px, 700 weight, #2563EB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Label: 14px, #6B7280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Card padding: 24px, white background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Border-radius: 8px with hover shadow</a:t>
            </a:r>
          </a:p>
          <a:p>
            <a:pPr algn="l"/>
            <a:r>
              <a:rPr lang="en-GB" sz="1200" b="0" i="0" dirty="0">
                <a:effectLst/>
                <a:latin typeface="ui-sans-serif"/>
              </a:rPr>
              <a:t>Why: Numbers build credibility and trust instantly</a:t>
            </a:r>
          </a:p>
        </p:txBody>
      </p:sp>
    </p:spTree>
    <p:extLst>
      <p:ext uri="{BB962C8B-B14F-4D97-AF65-F5344CB8AC3E}">
        <p14:creationId xmlns:p14="http://schemas.microsoft.com/office/powerpoint/2010/main" val="452942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DD0F71-6A3D-4A7F-8EF1-8329A99F8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126" y="111124"/>
            <a:ext cx="5213169" cy="331787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2E7CE9-9BA5-46AF-8D62-BB2454CE2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126" y="3251200"/>
            <a:ext cx="5213169" cy="322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04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C9D343-CE63-41F1-AA1A-A1714A8B7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568" y="82296"/>
            <a:ext cx="7111331" cy="362897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1B13EB-11A2-480E-9D98-C20311802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938" y="3665299"/>
            <a:ext cx="7005961" cy="311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2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1024</Words>
  <Application>Microsoft Office PowerPoint</Application>
  <PresentationFormat>Widescreen</PresentationFormat>
  <Paragraphs>112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Zuzanna</dc:creator>
  <cp:lastModifiedBy>Zuzanna</cp:lastModifiedBy>
  <cp:revision>9</cp:revision>
  <dcterms:created xsi:type="dcterms:W3CDTF">2026-01-30T11:05:08Z</dcterms:created>
  <dcterms:modified xsi:type="dcterms:W3CDTF">2026-01-30T13:09:25Z</dcterms:modified>
</cp:coreProperties>
</file>